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9" r:id="rId20"/>
    <p:sldId id="270" r:id="rId21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6" r:id="rId157"/>
    <p:sldId id="407" r:id="rId1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1" Type="http://schemas.openxmlformats.org/officeDocument/2006/relationships/slide" Target="slides/slide79.xml"/><Relationship Id="rId92" Type="http://schemas.openxmlformats.org/officeDocument/2006/relationships/slide" Target="slides/slide80.xml"/><Relationship Id="rId93" Type="http://schemas.openxmlformats.org/officeDocument/2006/relationships/slide" Target="slides/slide81.xml"/><Relationship Id="rId94" Type="http://schemas.openxmlformats.org/officeDocument/2006/relationships/slide" Target="slides/slide82.xml"/><Relationship Id="rId95" Type="http://schemas.openxmlformats.org/officeDocument/2006/relationships/slide" Target="slides/slide83.xml"/><Relationship Id="rId96" Type="http://schemas.openxmlformats.org/officeDocument/2006/relationships/slide" Target="slides/slide84.xml"/><Relationship Id="rId97" Type="http://schemas.openxmlformats.org/officeDocument/2006/relationships/slide" Target="slides/slide85.xml"/><Relationship Id="rId98" Type="http://schemas.openxmlformats.org/officeDocument/2006/relationships/slide" Target="slides/slide86.xml"/><Relationship Id="rId99" Type="http://schemas.openxmlformats.org/officeDocument/2006/relationships/slide" Target="slides/slide87.xml"/><Relationship Id="rId100" Type="http://schemas.openxmlformats.org/officeDocument/2006/relationships/slide" Target="slides/slide88.xml"/><Relationship Id="rId101" Type="http://schemas.openxmlformats.org/officeDocument/2006/relationships/slide" Target="slides/slide89.xml"/><Relationship Id="rId102" Type="http://schemas.openxmlformats.org/officeDocument/2006/relationships/slide" Target="slides/slide90.xml"/><Relationship Id="rId103" Type="http://schemas.openxmlformats.org/officeDocument/2006/relationships/slide" Target="slides/slide91.xml"/><Relationship Id="rId104" Type="http://schemas.openxmlformats.org/officeDocument/2006/relationships/slide" Target="slides/slide92.xml"/><Relationship Id="rId105" Type="http://schemas.openxmlformats.org/officeDocument/2006/relationships/slide" Target="slides/slide93.xml"/><Relationship Id="rId106" Type="http://schemas.openxmlformats.org/officeDocument/2006/relationships/slide" Target="slides/slide94.xml"/><Relationship Id="rId107" Type="http://schemas.openxmlformats.org/officeDocument/2006/relationships/slide" Target="slides/slide95.xml"/><Relationship Id="rId108" Type="http://schemas.openxmlformats.org/officeDocument/2006/relationships/slide" Target="slides/slide96.xml"/><Relationship Id="rId109" Type="http://schemas.openxmlformats.org/officeDocument/2006/relationships/slide" Target="slides/slide97.xml"/><Relationship Id="rId110" Type="http://schemas.openxmlformats.org/officeDocument/2006/relationships/slide" Target="slides/slide98.xml"/><Relationship Id="rId111" Type="http://schemas.openxmlformats.org/officeDocument/2006/relationships/slide" Target="slides/slide99.xml"/><Relationship Id="rId112" Type="http://schemas.openxmlformats.org/officeDocument/2006/relationships/slide" Target="slides/slide100.xml"/><Relationship Id="rId113" Type="http://schemas.openxmlformats.org/officeDocument/2006/relationships/slide" Target="slides/slide101.xml"/><Relationship Id="rId114" Type="http://schemas.openxmlformats.org/officeDocument/2006/relationships/slide" Target="slides/slide102.xml"/><Relationship Id="rId115" Type="http://schemas.openxmlformats.org/officeDocument/2006/relationships/slide" Target="slides/slide103.xml"/><Relationship Id="rId116" Type="http://schemas.openxmlformats.org/officeDocument/2006/relationships/slide" Target="slides/slide104.xml"/><Relationship Id="rId117" Type="http://schemas.openxmlformats.org/officeDocument/2006/relationships/slide" Target="slides/slide105.xml"/><Relationship Id="rId118" Type="http://schemas.openxmlformats.org/officeDocument/2006/relationships/slide" Target="slides/slide106.xml"/><Relationship Id="rId119" Type="http://schemas.openxmlformats.org/officeDocument/2006/relationships/slide" Target="slides/slide107.xml"/><Relationship Id="rId120" Type="http://schemas.openxmlformats.org/officeDocument/2006/relationships/slide" Target="slides/slide108.xml"/><Relationship Id="rId121" Type="http://schemas.openxmlformats.org/officeDocument/2006/relationships/slide" Target="slides/slide109.xml"/><Relationship Id="rId122" Type="http://schemas.openxmlformats.org/officeDocument/2006/relationships/slide" Target="slides/slide110.xml"/><Relationship Id="rId123" Type="http://schemas.openxmlformats.org/officeDocument/2006/relationships/slide" Target="slides/slide111.xml"/><Relationship Id="rId124" Type="http://schemas.openxmlformats.org/officeDocument/2006/relationships/slide" Target="slides/slide112.xml"/><Relationship Id="rId125" Type="http://schemas.openxmlformats.org/officeDocument/2006/relationships/slide" Target="slides/slide113.xml"/><Relationship Id="rId126" Type="http://schemas.openxmlformats.org/officeDocument/2006/relationships/slide" Target="slides/slide114.xml"/><Relationship Id="rId127" Type="http://schemas.openxmlformats.org/officeDocument/2006/relationships/slide" Target="slides/slide115.xml"/><Relationship Id="rId128" Type="http://schemas.openxmlformats.org/officeDocument/2006/relationships/slide" Target="slides/slide116.xml"/><Relationship Id="rId129" Type="http://schemas.openxmlformats.org/officeDocument/2006/relationships/slide" Target="slides/slide117.xml"/><Relationship Id="rId130" Type="http://schemas.openxmlformats.org/officeDocument/2006/relationships/slide" Target="slides/slide118.xml"/><Relationship Id="rId131" Type="http://schemas.openxmlformats.org/officeDocument/2006/relationships/slide" Target="slides/slide119.xml"/><Relationship Id="rId132" Type="http://schemas.openxmlformats.org/officeDocument/2006/relationships/slide" Target="slides/slide120.xml"/><Relationship Id="rId133" Type="http://schemas.openxmlformats.org/officeDocument/2006/relationships/slide" Target="slides/slide121.xml"/><Relationship Id="rId134" Type="http://schemas.openxmlformats.org/officeDocument/2006/relationships/slide" Target="slides/slide122.xml"/><Relationship Id="rId135" Type="http://schemas.openxmlformats.org/officeDocument/2006/relationships/slide" Target="slides/slide123.xml"/><Relationship Id="rId136" Type="http://schemas.openxmlformats.org/officeDocument/2006/relationships/slide" Target="slides/slide124.xml"/><Relationship Id="rId137" Type="http://schemas.openxmlformats.org/officeDocument/2006/relationships/slide" Target="slides/slide125.xml"/><Relationship Id="rId138" Type="http://schemas.openxmlformats.org/officeDocument/2006/relationships/slide" Target="slides/slide126.xml"/><Relationship Id="rId139" Type="http://schemas.openxmlformats.org/officeDocument/2006/relationships/slide" Target="slides/slide127.xml"/><Relationship Id="rId140" Type="http://schemas.openxmlformats.org/officeDocument/2006/relationships/slide" Target="slides/slide128.xml"/><Relationship Id="rId141" Type="http://schemas.openxmlformats.org/officeDocument/2006/relationships/slide" Target="slides/slide129.xml"/><Relationship Id="rId142" Type="http://schemas.openxmlformats.org/officeDocument/2006/relationships/slide" Target="slides/slide130.xml"/><Relationship Id="rId143" Type="http://schemas.openxmlformats.org/officeDocument/2006/relationships/slide" Target="slides/slide131.xml"/><Relationship Id="rId144" Type="http://schemas.openxmlformats.org/officeDocument/2006/relationships/slide" Target="slides/slide132.xml"/><Relationship Id="rId145" Type="http://schemas.openxmlformats.org/officeDocument/2006/relationships/slide" Target="slides/slide133.xml"/><Relationship Id="rId146" Type="http://schemas.openxmlformats.org/officeDocument/2006/relationships/slide" Target="slides/slide134.xml"/><Relationship Id="rId147" Type="http://schemas.openxmlformats.org/officeDocument/2006/relationships/slide" Target="slides/slide135.xml"/><Relationship Id="rId148" Type="http://schemas.openxmlformats.org/officeDocument/2006/relationships/slide" Target="slides/slide136.xml"/><Relationship Id="rId149" Type="http://schemas.openxmlformats.org/officeDocument/2006/relationships/slide" Target="slides/slide137.xml"/><Relationship Id="rId150" Type="http://schemas.openxmlformats.org/officeDocument/2006/relationships/slide" Target="slides/slide138.xml"/><Relationship Id="rId151" Type="http://schemas.openxmlformats.org/officeDocument/2006/relationships/slide" Target="slides/slide139.xml"/><Relationship Id="rId152" Type="http://schemas.openxmlformats.org/officeDocument/2006/relationships/slide" Target="slides/slide140.xml"/><Relationship Id="rId153" Type="http://schemas.openxmlformats.org/officeDocument/2006/relationships/slide" Target="slides/slide141.xml"/><Relationship Id="rId157" Type="http://schemas.openxmlformats.org/officeDocument/2006/relationships/slide" Target="slides/slide142.xml"/><Relationship Id="rId158" Type="http://schemas.openxmlformats.org/officeDocument/2006/relationships/slide" Target="slides/slide1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3501-Generative-AI-for-Search-Engine-Optimization-SEO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ertiarycourses.github.io/TGS-2020503501-Generative-AI-for-Search-Engine-Optimization-SEO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5488"/>
            <a:ext cx="694944" cy="694944"/>
          </a:xfrm>
          <a:prstGeom prst="rect">
            <a:avLst/>
          </a:prstGeom>
        </p:spPr>
      </p:pic>
      <p:pic>
        <p:nvPicPr>
          <p:cNvPr id="6" name="Picture 5" descr="cover-hero-v1.png"/>
          <p:cNvPicPr>
            <a:picLocks noChangeAspect="1"/>
          </p:cNvPicPr>
          <p:nvPr/>
        </p:nvPicPr>
        <p:blipFill>
          <a:blip r:embed="rId3"/>
          <a:srcRect l="40000" r="2500" t="1500" b="1500"/>
          <a:stretch>
            <a:fillRect/>
          </a:stretch>
        </p:blipFill>
        <p:spPr>
          <a:xfrm>
            <a:off x="5961888" y="201168"/>
            <a:ext cx="6229807" cy="64556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" y="1353312"/>
            <a:ext cx="1389888" cy="4023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99032"/>
            <a:ext cx="13898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AI ·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4892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04288"/>
            <a:ext cx="498348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Generative AI for SEO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15968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55371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C11</a:t>
            </a:r>
          </a:p>
          <a:p>
            <a:r>
              <a:rPr sz="1600" b="0">
                <a:latin typeface="Arial"/>
              </a:rPr>
              <a:t>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7424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v2.0  ·  17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99632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and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 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facilitator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SPECIALISMS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SEO, digital marketing and workflow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development and workplace application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organisation, audience and current digital-marketing responsibility.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Search 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SEO task you do manually today.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generative-AI tool or prompt pattern you have tried.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website outcome you want to improve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Challenge assumptions and contribute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Disagree with ideas, not people.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public or course data only; do not disclose live incident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Silent mode; step out quietly if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promptly.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 both days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Strategy and discovery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SEO, generative AI and agentic workflows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 1: baseline audit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keywords, intent, clusters and briefs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 3: keyword universe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Create, optimise and measure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blog, image, video and social assets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on-page SEO and Google AI features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Search Console, GA4 and governance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5, 7, 9; recap, Q&amp;A and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SEO and internet marketing strategies of a website.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 keyword research in alignment with SEO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 on-page SEO strategies and recommendations.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 off-page SEO strategies and performance across multiple channels.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Monitor Google Analytics and Search Console reports to evaluate SEO performance.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C11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Non-WSQ commercial short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Search Engine Optimisation (SEO)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Proficiency Level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Knowledge K1–K10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strategy · keywords · ranking · search methods · social · pages ·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Abilities A1–A6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research · recommend · manage · monitor · partner ·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HANDS-ON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https://github.com/tertiarycourses/C11-Generative-AI-for-SEO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Clone the repository, then open the labs folder.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GitHub Code → Download ZIP when Git is unavailable.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One shared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activity applies its prompts and evidence to the same live EcoDesk website.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LIVE SEO LEAD-GENERATION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EcoDesk Website · Ten Progressive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7040880" cy="42245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65008" y="1783080"/>
            <a:ext cx="3364992" cy="30632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Use the same site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542032"/>
            <a:ext cx="28529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audit and strategy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keywords and content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on-page and AI search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measurement and agents</a:t>
            </a:r>
          </a:p>
        </p:txBody>
      </p:sp>
      <p:sp>
        <p:nvSpPr>
          <p:cNvPr id="11" name="Rectangle 10">
            <a:hlinkClick r:id="rId3"/>
          </p:cNvPr>
          <p:cNvSpPr/>
          <p:nvPr/>
        </p:nvSpPr>
        <p:spPr>
          <a:xfrm>
            <a:off x="8065008" y="5074920"/>
            <a:ext cx="336499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513892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OPEN LIVE ECODESK WEBSITE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Intent · Evidence · Experience · Authority ·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END-TO-END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AI SEO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Understand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Ground with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Prompt and create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and 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EVIDENCE BEFORE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Primary guidance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Official search, analytics, standards or platform documentation.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First-party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 Console, GA4, customer language, site content and business outcomes.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Training assumption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simulated input used only for learning and clearly labelled.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inference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hypothesis that must be verified before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Prompt quality cannot rescue missing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Ground the model, make uncertainty visible and keep a human accountable for publication.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01 · A6 · K1 · K6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Fundamentals of SEO and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Search systems · strategy · responsible AI · agentic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C11 Non-WSQ commercial short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Fundamentals of SEO and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Search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Earn discoverability by helping people and search systems understand useful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Accelerate research and creation while humans own evidence, intent and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audience needs, business outcomes, content assets, authority and measurement.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data, fact-check, brand, copyright, disclosure and publishing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SEO is a system of useful signals, not a bag of tricks.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AI increases execution speed; strategy decides whether that speed creates value or spam.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modern search finds and serves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Crawl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Rank and present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SERP is now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Organic links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Classic results with titles, snippets and rich features.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Overviews / AI Mode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Generated responses grounded in indexed sources and query fan-out.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Local, image and video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Intent-specific surfaces with their own eligibility signals.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Paid and shopping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Commercial inventory distinct from organic ranking.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Traditional SEO and generative-search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Indexable, useful pages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Intent and relevance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Authority and links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Page experience and technical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Clear answer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Unique evidence and first-party experience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Entity consistency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Extractable text plus helpful images/video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White-hat and black-hat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People-first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original value for a defined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accurate metadata and visible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Manipulative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Cloaking, doorway pages, link schemes and hidden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Scaled abuse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Many unoriginal AI pages made mainly to manipulate rankings.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SEO operating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Ground the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Generate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 and 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Publish, measure, 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SEO strategy: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 — Search intent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audience, job and decision stage.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 — Information advantage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original examples, expertise and proof.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 — Generative workflow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reusable prompts, inputs and quality gates.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 — Network 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internal links, earned mentions and credible distribution.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— Accessibility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Ensure crawl, render, mobile and media accessibility.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 — Learning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 outcomes and refresh from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roles for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Human directs each task and approves the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Automation passes structured inputs between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System plans and acts within a bounded goal, tools and approval policy.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SEO with control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Goal and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Draft or recommend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Human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13504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3504" y="4855464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69536" y="523036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9536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1056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Monitor and rollback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Human-in-the-loop risk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Summarise exports, cluster supplied keywords, flag missing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Medium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 briefs, internal links, schema and social variants for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Publish, change templates, edit robots/canonicals or contact external sites.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Least privilege, preview, approvals, logs, limits and rollback.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anatomy: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 — 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Business, audience, page, product and constraints.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 — 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measurable task and target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 — Necessary inputs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facts, keyword data, page copy and links.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 — Task steps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Analysis sequence, checks and decision rules.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 —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Citations, uncertainty labels and claim ledger.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X — eXclusions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Prohibited claims, tactics, private data and assumptions.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 — Template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output fields, length limits and QA checklist.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Pitfalls and countermeasures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Hallucination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Ground claims and require a fact/uncertainty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Generic content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first-party examples and expert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Keyword stuffing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Optimise for intent and natural coverage, not repetition.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Privacy leakage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public or synthetic inputs; redact customer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Copyright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imitate living creators or reproduce source 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drift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prompts, log changes and monitor outcomes.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PROGRESSIVE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Labs — Fundamentals of SEO and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Audit the EcoDesk Demo Website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LO1 · A6 · K1 · K6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the SIGNAL AI SEO Strategy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LO1 · A6 · K1 · K6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Safe demo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Fictional EcoDesk website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guidance and synthetic data clearly labelled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LO1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the EcoDesk Demo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Establish an evidence-based baseline for a fictional Singapore sustainable-office-products website before any AI-assisted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Baseline HTML/CSS/JavaScript site, audit scorecard, issue register and prioritised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Browser developer tools · page source · supplied audit prompt · evidence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EcoDesk is a fictional training business. The baseline intentionally contains realistic SEO strengths and weaknesses so learners can inspect code, content and user experience safely.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https://developers.google.com/search/docs/essentials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business names, addresses, prices, testimonials and analytics are synthetic.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live Search Console or customer data is required.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audit must distinguish observed evidence from an AI inference.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1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issues affect crawl/index eligibility, relevance, trust or conversion?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current strengths should be preserved?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recommendation has the highest impact-to-effort ratio?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is missing before implementation?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the EcoDesk Demo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finding cites observable evidence, separates fact from inference, includes a verification method and maps to a business or user outcome.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LO1 · A6 · K1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the SIGNAL AI SEO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Turn the baseline into a 90-day AI-assisted SEO strategy with outcomes, audiences, content priorities, controls and measurement.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Strategy webpage, SIGNAL canvas, 90-day roadmap, prompt policy and agent approval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Baseline audit · SIGNAL framework · strategy prompt · governance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2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Google permits appropriate use of generative AI but warns that scaled, low-value content created mainly to manipulate rankings can violate spam policies.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https://developers.google.com/search/docs/fundamentals/using-gen-ai-content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90-day budget is S$6,000 and eight staff-days.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Only public and synthetic data may enter general-purpose AI tools.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Publishing, outreach and technical directives require named human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2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outcome should SEO create beyond traffic?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information advantage can EcoDesk credibly own?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tasks are suitable for copilot, workflow or agent mode?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risks require a stop rule or human approval?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the SIGNAL AI SEO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strategy links each initiative to an outcome, source of truth, owner, approval gate, metric and rollback or review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Fundamentals of SEO and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the EcoDesk Demo Website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a website's current SEO and internet-marketing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Design the SIGNAL AI SEO Strategy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 organisation-level AI SEO strategy and governed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official guidance, first-party data, training assumptions and AI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recommendation to an owner, approval gate, metric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02 · A1 · K2 · K8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AI-Powered Keyword Research and Content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Intent · entities · clustering · prioritisation · content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C11 Non-WSQ commercial short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AI-Powered Keyword Research and Content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Demand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Keywords reveal language and questions, not guaranteed traffic.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Classify what the searcher wants to know, compare, do or buy.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entities, subtopics and follow-up questions into useful coverage.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Balance relevance, business value, difficulty, evidence and effort.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keyword list becomes a strategy only after intent, evidence and priority are added.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AI is strong at expansion and clustering; real search data and business judgement remain the source of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Keyword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Head vs long-tail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Breadth and volume versus specificity and conversion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Branded vs non-branded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demand versus category discovery.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vs national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Place, proximity and service-area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 vs 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Learning needs versus comparison, booking or purchase.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AI keyword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Seed from offers and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Collect Search Console / planner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Expand questions and entities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Cluster by intent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SERPs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Prioritise and map pages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Sources of keyword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First party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 search, sales calls, support tickets and Search Console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surfaces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Autocomplete, People Also Ask, related searches and Trends.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Competitive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Ranking pages, content gaps, backlinks and paid-search language.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Planner, Ahrefs, Semrush and alternatives; verify definitions and freshness.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AI can infer and what it cannot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Semantic similarity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Likely intent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Question variations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Entity and modifier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Current volume without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Actual difficulty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Your conversion rate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Business priority and legal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Search-intent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Definitions, explanations, guides and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Procedures, tools, templates and checklists.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Alternatives, criteria, trade-offs and use cases.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Buy / visit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Offer, trust, price, availability, location and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Prompted cluster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Infer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Group by shared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parent topic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pillar or support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 cannibalisation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Keyword opportunity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query fit the offer and audience?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we add credible, differentiated value?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Demand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there observable interest or strategic importance?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Competition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the site plausibly earn visibility?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Conversion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intent support a valued action?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content, technical and authority work is needed?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Pillar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Broad decision guide connecting the topic cluster.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Focused pages resolving sub-intents without duplication.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Service, product or lead page connected by relevant internal links.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Cannibalisation warning 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Same intent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pages promise the same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SERP switching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URLs rank for one query over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Split 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Links and engagement fragment across near-duplicates.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Consolidate, differentiate purpose, redirect or adjust internal links.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controls for keyword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 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 keyword, source, metric date and landing page.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invented metrics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null/unknown when volume or difficulty is missing.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 codes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intent and cluster assignment briefly.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queue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Flag ambiguous, sensitive or low-confidence terms.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keyword to editorial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Primary intent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Audience problem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Unique angle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Outline and media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Internal links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Conversion and measurement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PROGRESSIVE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Labs — AI-Powered Keyword Research and Content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and Validate a Keyword Universe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LO2 · A1 · K2 · K8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Cluster Keywords and Build Content Briefs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LO2 · A1 · K2 · K8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Safe demo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Fictional EcoDesk website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guidance and synthetic data clearly labelled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LO2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and Validate a Keyword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grounded keyword universe for EcoDesk from supplied first-party notes and synthetic planner/Search Console exports.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Keyword-hub website page, prompt output, cleaned keyword table and validation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Synthetic CSV · keyword prompt · search-intent rubric ·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3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AI can expand, normalise and group language, but search volume, competition and current SERP evidence must come from supplied or verified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https://support.google.com/google-ads/answer/7337243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Keyword metrics are synthetic and dated 16 August 2026.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Missing volume and difficulty must remain unknown, never estimated by the model.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Search intent requires manual SERP validation before publishing.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3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seeds come from real customer language?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expansions are relevant but unsupported by demand data?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queries reveal local, comparison or purchase intent?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terms should be excluded for weak fit or compliance risk?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and Validate a Keyword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metric is AI-invented; every retained keyword has a source, intent, cluster candidate, validation status and business-fit rationale.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LO2 · A1 · K2 ·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Keywords and Build Content Briefs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Transform the validated keyword universe into a non-cannibalising topic cluster and three grounded content briefs.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Content-plan webpage, cluster map, page-keyword matrix and three briefs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3 keyword table · clustering prompt · brief template · cannibalisation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4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information architecture groups content by audience tasks and makes important pages reachable through descriptive internal links.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https://developers.google.com/search/docs/fundamentals/seo-starter-guide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approved cluster is sustainable office setup for Singapore SMEs.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EcoDesk has access to an operations specialist for first-party examples.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Environmental claims require documentary support and cautious wording.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4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terms share the same dominant intent?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page should be pillar, support or conversion content?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Where could two proposed pages cannibalise each other?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unique evidence makes each brief publishable?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Keywords and Build Content Briefs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keyword maps to one primary page, each brief has a distinct intent and information advantage, and internal links form a logical user journey.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Recap — AI-Powered Keyword Research and Content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Generate and Validate a Keyword Universe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AI to expand and validate search terms without inventing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Cluster Keywords and Build Content Briefs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Map validated keywords to intent-led pages and editorial briefs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official guidance, first-party data, training assumptions and AI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recommendation to an owner, approval gate, metric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03 · A5 · K5 · K7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Creating SEO-Optimised Content with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Blogs · articles · landing pages · images · video · social repurposing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C11 Non-WSQ commercial short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Creating SEO-Optimised Content with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Brief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grounded contract for audience, intent, evidence, angle and outcome.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AI proposes structure and language; experts add truth and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Media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Images and video answer visual intent and improve comprehension.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Distribution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Social content earns attention and relationships; backlinks must be editorially deserved.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publishable unit is not an AI draft; it is a verified, edited asset with a reason to exist.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Original evidence, useful structure and human accountability separate content from commodity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Editorial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 and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Evidence ledger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Outline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Draft sections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Expert edit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SEO/media QA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Approve and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strong content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Role, context, knowledge and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question and follow-up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Angle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promise and information advantage.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Claims, sources, examples and subject-matter input.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Answer-first headings, comparison, process and FAQ.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Next useful step and measurement event.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Answer-first does and don'ts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Lead with a concise answer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descriptive headings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 steps, tables and examples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Cite facts near the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pad the introduction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repeat the keyword unnaturally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hide uncertainty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promise rankings or AI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E-E-A-T as an editorial review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Demonstrate first-hand process, examples and outcomes.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qualified authors and technically accurate explanations.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Authoritativeness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Earn recognition, references and consistent entity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sources, authorship, updates, policies and limitations clear.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Fact-safe drafting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List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Attach source or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with citation placeholders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wording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unsupported claims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 claim ledger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Image-generation prompt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query, page section and learning/conversion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Composition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subject, framing and responsive crop zones.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List must-have details and prohibited artefacts.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Rights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logos, copyrighted characters and creator imitation.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type, dimensions, compression and descriptive filename.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alt text for function and context, not keyword stuffing.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Image SEO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Relevant original visual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Illustrate the page's actual topic or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Efficient 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Responsive sizes, WebP/AVIF where appropriate, dimensions and lazy loading.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Discoverable 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filename, nearby text and image sitemap where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Useful alt 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Concisely communicate purpose to users who cannot see the image.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Video SEO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Searchable page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Give each important video a stable, indexable watch page.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Transcript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Expose accurate spoken content as useful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title, thumbnail, duration, upload date and VideoObject where valid.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Chapters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 users navigate moments and clarify subtopics.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article to a social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Extract evidence and insight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audience tension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Draft platform-native post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proof and point of 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Invite discussion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Disclose destination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Track qualified visits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Earned links and manipulative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Original research and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Expert commentary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resources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Relevant outreach and digital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Bought or exchanged ranking links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Mass low-quality guest posts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Automated comment/forum spam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Invented endorsements or fake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A5 · K5 ·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content QA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Resolves the real task completely.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material claim is verified.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Originality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Adds examples, data or judgement unavailable elsewhere.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Scannable, specific and free of filler.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Voice, risk and disclosure requirements met.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Metadata, links, media and structured data match the visible page.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PROGRESSIVE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Labs — Creating SEO-Optimised Content with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People-First SEO Blog Article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LO3 · A5 · K7 · K10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Image, Video and LinkedIn Assets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LO4 · A3 · A5 · K3 · K5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Safe demo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Fictional EcoDesk website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guidance and synthetic data clearly labelled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LO3 · A5 · K7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People-First SEO Blog Article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 staged prompt workflow to create an answer-first article from a verified brief and claim ledger.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Published static blog page, draft comparison, claim ledger, editorial QA and internal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4 brief · source pack · blog prompts · claim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5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Helpful content is created primarily to benefit people; AI-assisted content still needs originality, accuracy, transparent authorship and appropriate expertise.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https://developers.google.com/search/docs/fundamentals/creating-helpful-content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examples are illustrative and must be labelled when not source-backed.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article must not claim certification, guaranteed savings or environmental impact without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author is an EcoDesk workplace sustainability adviser with a transparent bio.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5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reader's main decision?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claims need sources or qualification?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first-party experience can make the article non-commodity?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internal links continue the user journey?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People-First SEO Blog Article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material claim is supported or qualified, the page resolves intent, adds original operational value and passes the six-part AI content QA scorecard.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LO4 · A3 · A5 · K3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Image, Video and LinkedIn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Prompt text-to-image and video concepts, write accessible metadata, and repurpose the blog into a LinkedIn post designed to earn attention and editorial backlinks.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Media-library webpage, image prompt, storyboard, transcript, metadata and LinkedIn outreach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Image/video prompt pack · alt-text rubric · VideoObject checklist · social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6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Images and video should be relevant, accessible and technically efficient. Social distribution can earn discovery and links, but manipulative link schemes remain prohibited.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https://developers.google.com/search/docs/appearance/google-images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Generated visuals may not include logos, copyrighted characters or unsupported certifications.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video is a concept storyboard; learners do not need paid generation tools.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LinkedIn post must not ask for reciprocal or paid links.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6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job does each media asset perform?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visual inaccuracies or rights risks must the prompt prevent?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belongs in alt text versus a caption?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Why would another professional voluntarily reference the article?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Image, Video and LinkedIn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Assets are relevant, accessible, rights-safe and evidence-aligned; the LinkedIn post offers standalone value and seeks earned rather than manipulated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Recap — Creating SEO-Optimised Content with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Create a People-First SEO Blog Article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and edit a grounded long-form article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Generate Image, Video and LinkedIn Assets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multimodal SEO assets and an ethical off-page distribution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official guidance, first-party data, training assumptions and AI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recommendation to an owner, approval gate, metric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04 · A2 · K10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for On-Page SEO and Content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Metadata · architecture · technical SEO · structured data · AI Overviews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C11 Non-WSQ commercial short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AI for On-Page SEO and Content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Page 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title, heading, copy, media, links and structured data with one useful purpose.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 must be allowed to crawl, render, index and show a snippet.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Information 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priority pages reachable and relationships explicit.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features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Foundational SEO and unique, people-first content remain the core.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There is no magic AI Overview schema.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page must first be indexable and eligible for Google Search; clear, unique and reliable content does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On-page signal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Snippet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Title and description set expectation; Google may rewrite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clear H1 with descriptive H2/H3 sections.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Complete, accurate answer with original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Media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Helpful images/video with accessible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internal links and cited external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data that matches visible content.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Metadata prompt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Supply page facts and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5 distinct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intent and uniqueness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Enforce length as 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unsupported claims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select and edit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Title and description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the page's value and distinguishing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Accurate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promise content or offers absent from the page.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Unique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sitewide boilerplate and near duplicates.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Natural language first; no keyword lists or excessive punctuation.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URL, canonical and index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URL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Stable, concise, descriptive and consistent.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Canonical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Indicate preferred duplicate while keeping internal signals aligned.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Noindex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a page from search; do not rely on robots.txt for this.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Robots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crawling, not guaranteed indexing removal.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Topic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Category / pillar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Supporting article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Conversion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Related resources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Internal-link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Link where the destination helps the reader continue.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Anchor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Describe the destination naturally.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valuable pages reachable in few logical steps.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Repair broken, redirected and orphaned links.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data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Eligible type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Google-supported type only when the page qualifies.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Visible match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Markup must reflect content users can see.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Required 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Include valid, current values and stable URLs.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syntax and monitor enhancements; rich results are not guaranteed.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Overview / AI Mode eligibility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Allow crawl and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Index with snippet eligibility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Resolve intent with unique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clear textual answer 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 with media and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Earn selection; no guarantee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fan-out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Subtopics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Cover the natural supporting questions without padding.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consistent names and relationships.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Comparisons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 criteria, trade-offs and decision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Freshness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Update material facts and show meaningful review 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Useful GEO/AEO practice and unsupported hacks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Foundational technical SEO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People-first, non-commodity content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Clear structure and first-party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Search Console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Special AI-only markup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Guaranteed citation formulas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Inauthentic mentions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Publishing an llms.txt file as a Google ranking tactic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Core Web and mobile hygiene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LCP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 the main content quickly with efficient media.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interaction responsive by controlling script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Reserve space for images, embeds and dynamic UI.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Mobile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Readable, usable and equivalent primary content across devices.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PROGRESSIVE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Labs — AI for On-Page SEO and Content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and Implement On-Page SEO Meta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LO3 · A2 · K10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 an Answer Page for Google AI Overviews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LO3 · A2 · K4 · K10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Safe demo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Fictional EcoDesk website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guidance and synthetic data clearly labelled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LO3 · A2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and Implement On-Page SEO Meta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Generate metadata options from visible page facts, then implement HTML, internal links, image attributes and valid structured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Optimised products page with meta, canonical, headings, internal links, images and JSON-LD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Product facts · metadata prompt · HTML validator · rich-results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7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Titles and snippets should accurately represent visible content. Structured data must match the page and does not guarantee a rich result.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https://developers.google.com/search/docs/appearance/title-link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Product names and descriptions are fictional.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reviews, aggregate rating or certification markup may be added.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canonical URL is a training placeholder and must be changed before real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7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page facts can safely appear in metadata?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generated option best matches intent and brand?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structured-data type is eligible and visible?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internal links reduce user effort?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and Implement On-Page SEO Meta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Metadata is unique and accurate, visible content and JSON-LD agree, links work, images are accessible and no unsupported rating, price or guarantee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LO3 · A2 · K4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Optimise an Answer Page for Google AI Overviews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clear, source-grounded page that can be indexed and understood by users and generative search features without relying on unsupported GEO hacks.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AI Overview-ready guide, answer units, comparison table, FAQ, sources and technical eligibility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Official Google guidance · query fan-out prompt · answer-unit rubric · source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8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Google says existing SEO best practices remain relevant for AI features, pages need no special AI markup, and inclusion is never guaranteed.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https://developers.google.com/search/docs/fundamentals/ai-optimization-guide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page targets Singapore SME office managers.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guide uses public general information and synthetic EcoDesk examples.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FAQ structured data is omitted unless current eligibility and visible-content requirements are met.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8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direct answer should appear first?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follow-up subqueries might query fan-out retrieve?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original evidence or experience improves the page?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technical controls could accidentally remove eligibility?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Optimise an Answer Page for Google AI Overviews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page is indexable, resolves the main and follow-up intents with unique value, cites evidence and makes no guarantee of AI Overview inclusion.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AI for On-Page SEO and Content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Generate and Implement On-Page SEO Meta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prompts to create and implement accurate on-page elements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Optimise an Answer Page for Google AI Overviews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foundational SEO and answer-first content for generative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official guidance, first-party data, training assumptions and AI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recommendation to an owner, approval gate, metric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05 · A3 · A4 · K3 · K4 · K9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SEO Performance, Ethics and Continuous Improvement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Search Console · GA4 · AI visibility · experiments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C11 Non-WSQ commercial short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SEO Performance, Ethics and Continuous Improvement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 impressions and cited presence show discoverability, not business value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Qualified visits and useful actions indicate whether intent was met.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Conversion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organic journeys to leads, sales or other valued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baselines, hypotheses and controlled changes before attributing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can explain a dashboard; it cannot repair weak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Clean definitions, complete inputs and cautious attribution come before generated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Measurement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Search Console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Queries, pages, clicks, impressions, CTR, position and indexing.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Sessions, users, engagement, events, key events and landing-page outcomes.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crawl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Status, metadata, canonicals, links, directives and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 quality, revenue, margin, retention and offline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Search Console and GA4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Did Google show and send clicks?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Which query/page combinations changed?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 the URL indexed and eligible?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Which search features are present?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What did visitors do after arrival?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Which landing pages drove key events?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How do channels and campaigns compare?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What is the user/session journey?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KPI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Impressions and share of eligible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Clicks, organic sessions and click-through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Engagement, scroll, content use and page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 events, leads, revenue or qualified 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Efficiency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Cost, production time and refresh throughput.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 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Accuracy, complaints, manual actions and brand risk.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AI-assisted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Export clean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metric dictionary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Ask one diagnostic question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Request calculations and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Challenge alternative causes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Validate in source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Record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Avoid attribution traps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Seasonality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relevant periods and known demand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SERP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AI features, ads and layout can change clicks without ranking loss.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Tracking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Consent, tagging and definitions can create artificial shifts.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 mix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Averages hide landing-page and intent differences.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Experiment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Hypothesis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Target pages and guardrails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coherent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Observation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and interpret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Keep, revise or revert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visibility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Official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Search Console reports where available and overall performance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 query, locale, device, date and cited 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Third-party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Treat estimates as directional and check methodology.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 AI-referred engagement and conversion where identifiable.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monitoring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Read-only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Let agents detect and recommend before they can edit.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Threshold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 material change and minimum evidence before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Human approves content, technical and outreach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Log input, model, prompt, output, reviewer, decision and rollback.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Refresh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Maintain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Content remains accurate, useful and aligned.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Update evidence, intent coverage, media, links or conversion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Consolidate / retire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Merge overlap, redirect obsolete pages or noindex when appropriate.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personal, confidential or licensed data without authority.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claims, calculations and schema against 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Fairness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stereotypes, exclusions and inappropriate targeting.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 AI use where policy or audience trust requires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reviewer and publisher remain accountable.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Least privilege, secret handling and safe external actions.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Continuous improvement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Observe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Diagnose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Prioritise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Prompt and produce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and publish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Stage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Learn and standardise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PROGRESSIVE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Applied Labs — SEO Performance, Ethics and Continuous Improvement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Analyse Search Console and GA4 Data with AI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LO5 · A3 · A4 · K3 · K4 · K9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Governed Agentic SEO Workflow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LO1–LO5 · A1–A6 · K1–K10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Safe demo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Fictional EcoDesk website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guidance and synthetic data clearly labelled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LO5 · A3 · A4 · K3 · K4 ·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Analyse Search Console and GA4 Data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synthetic Search Console and GA4 exports to diagnose performance without confusing impressions, clicks, sessions, users or conversions.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Performance-review webpage, KPI tree, diagnostic memo, hypotheses and experiment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Synthetic GSC/GA4 CSV · metric dictionary · analysis prompt · attribution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9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Search Console describes Google search visibility and clicks; GA4 describes user/session behaviour after arrival. Their scopes and counts need not match.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https://support.google.com/analytics/answer/14731736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metrics are synthetic and contain a planned tracking change in week 5.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causal claim may be made from correlation alone.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AI calculations must be checked against spreadsheet formulas.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9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metrics changed materially and at what page/query level?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Could definition or tracking changes explain the pattern?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hypotheses fit all available evidence?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test would distinguish competing explanations?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Analyse Search Console and GA4 Data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conclusion traces to supplied data, metric scopes are correct, alternative explanations are considered and the recommended test has a baseline and decision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LO1–LO5 · A1–A6 · K1–K10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Governed Agentic SEO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Integrate the course into a capstone workflow that monitors, recommends and prepares changes while humans retain control of publishing and outreach.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Governance webpage, agent workflow, tool permissions, prompt contract, audit log and 30-day monitoring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All prior lab outputs · workflow canvas · risk matrix · audit-log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10 · SAFE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— Evidence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Agentic SEO can coordinate multi-step research, audit and monitoring, but high-risk actions need scoped permissions, approvals, logs and rollback.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https://developers.google.com/search/docs/essentials/spam-policies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agent has read-only access to analytics and repository content.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cannot publish, send outreach, edit robots/canonicals or expose secrets.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recommendation must cite a page, metric row or policy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10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bounded goal and stop condition?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tools and data does the agent actually need?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actions need preview, approval or prohibition?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will quality, drift, value and incidents be measured?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Governed Agentic SEO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workflow is evidence-bound, read-only by default, blocks high-risk autonomous actions, records decisions and demonstrates a successful stop/rollback tabletop.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Recap — SEO Performance, Ethics and Continuous Improvement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 Search Console and GA4 Data with AI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SEO performance across channels using defined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 a Governed Agentic SEO Workflow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a monitored AI SEO workflow with approvals and 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official guidance, first-party data, training assumptions and AI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recommendation to an owner, approval gate, metric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Visibility Earned Through Useful, Verifiable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SEO and internet marketing strategies of a website.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 keyword research in alignment with SEO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 on-page SEO strategies and recommendations.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 off-page SEO strategies and performance across multiple channels.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Monitor Google Analytics and Search Console reports to evaluate SEO performance.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AI SEO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Research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with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Optimise and distribute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Google: AI features and your website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https://developers.google.com/search/docs/appearance/ai-features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Google: Optimizing for generative AI features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https://developers.google.com/search/docs/fundamentals/ai-optimization-guide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Google: Guidance on generative AI content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https://developers.google.com/search/docs/fundamentals/using-gen-ai-content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Google: Spam policies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https://developers.google.com/search/docs/essentials/spam-policies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 Search Essentials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https://developers.google.com/search/docs/essentials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 structured data guidelines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https://developers.google.com/search/docs/appearance/structured-data/sd-policies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 Search Console performance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https://support.google.com/webmasters/answer/7576553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Google Analytics acquisition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https://support.google.com/analytics/answer/14731736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Conductor: AI Overview strategies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https://www.conductor.com/academy/optimization-strategies-google-ai-overviews/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AllAble: Agentic SEO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https://www.allable.ai/blog/what-is-agentic-seo/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Authoricy: Agentic SEO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https://www.authoricy.com/blog/agentic-seo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Opinly: Generative AI for SEO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https://opinly.ai/blog/using-generative-ai-for-seo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Gradient Group: SEO prompt examples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https://gradientgroup.com/28-expert-level-prompt-examples-for-seo/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Techpresso: SEO prompts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https://academy.techpresso.co/prompts/chatgpt-prompts-seo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User-supplied source register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https://www.tertiarycourses.com.sg/generative-ai-for-seo.html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Your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feedback link shared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us what worked well for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Suggest what could be improved.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Send it before you leave the session.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GENERATIVE AI FOR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AI to amplify useful evidence, not to manufacture relevance.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SEO  ·  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